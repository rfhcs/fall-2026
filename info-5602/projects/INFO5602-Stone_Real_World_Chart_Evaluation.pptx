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6" r:id="rId1"/>
  </p:sldMasterIdLst>
  <p:notesMasterIdLst>
    <p:notesMasterId r:id="rId16"/>
  </p:notesMasterIdLst>
  <p:sldIdLst>
    <p:sldId id="256" r:id="rId2"/>
    <p:sldId id="260" r:id="rId3"/>
    <p:sldId id="266" r:id="rId4"/>
    <p:sldId id="275" r:id="rId5"/>
    <p:sldId id="264" r:id="rId6"/>
    <p:sldId id="267" r:id="rId7"/>
    <p:sldId id="268" r:id="rId8"/>
    <p:sldId id="276" r:id="rId9"/>
    <p:sldId id="269" r:id="rId10"/>
    <p:sldId id="271" r:id="rId11"/>
    <p:sldId id="272" r:id="rId12"/>
    <p:sldId id="277" r:id="rId13"/>
    <p:sldId id="273" r:id="rId14"/>
    <p:sldId id="27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298"/>
    <p:restoredTop sz="83633"/>
  </p:normalViewPr>
  <p:slideViewPr>
    <p:cSldViewPr snapToGrid="0">
      <p:cViewPr varScale="1">
        <p:scale>
          <a:sx n="130" d="100"/>
          <a:sy n="130" d="100"/>
        </p:scale>
        <p:origin x="2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C21F81-37C6-5A4E-80C7-800CC3307747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B99390-A439-D241-ACF4-DE20458A1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705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opinion piece from The New York Times titled “Here’s When We Expect Omicron to Peak” written by Jeffrey Shaman, an epidemiologist from Columbia University.</a:t>
            </a:r>
          </a:p>
          <a:p>
            <a:endParaRPr lang="en-US" dirty="0"/>
          </a:p>
          <a:p>
            <a:r>
              <a:rPr lang="en-US" dirty="0"/>
              <a:t>Why? Created to showcase the prediction of how the omicron variant will spread since omicron was more contagious than the other previous variants of covid.</a:t>
            </a:r>
          </a:p>
          <a:p>
            <a:endParaRPr lang="en-US" dirty="0"/>
          </a:p>
          <a:p>
            <a:r>
              <a:rPr lang="en-US" dirty="0"/>
              <a:t>Who? It was aimed at the public/subscribers of the Times paper.</a:t>
            </a:r>
          </a:p>
          <a:p>
            <a:endParaRPr lang="en-US" dirty="0"/>
          </a:p>
          <a:p>
            <a:r>
              <a:rPr lang="en-US" dirty="0"/>
              <a:t>What? Since it was during the middle of a pandemic, this article was created to warn people of the potential dangers of being out in public and to highlight the potential increase of risk to being exposed to covid.</a:t>
            </a:r>
          </a:p>
          <a:p>
            <a:endParaRPr lang="en-US" dirty="0"/>
          </a:p>
          <a:p>
            <a:r>
              <a:rPr lang="en-US" dirty="0"/>
              <a:t>How? There was no explicit statement of where the data was collected from but assumed to be from public health data from Columbia University or other government sites.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B99390-A439-D241-ACF4-DE20458A119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006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B99390-A439-D241-ACF4-DE20458A119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3549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75B29-0690-DCE7-0C40-53315ECCC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BE3496-9E2A-B79F-17BD-3A69EC5936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09E2FF-2E63-C6E1-69BE-4CE61152AC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report titled “How Do Americans Feel About G20 Countries” made by Pew Research Center analysts.</a:t>
            </a:r>
          </a:p>
          <a:p>
            <a:endParaRPr lang="en-US" dirty="0"/>
          </a:p>
          <a:p>
            <a:r>
              <a:rPr lang="en-US" dirty="0"/>
              <a:t>Why? ”To help the public, media, and decision makers understand important topics”. In this case: to visualize and summarize American appeal of G20 countries (which are a group of 20 countries in different regions of the world).</a:t>
            </a:r>
          </a:p>
          <a:p>
            <a:endParaRPr lang="en-US" dirty="0"/>
          </a:p>
          <a:p>
            <a:r>
              <a:rPr lang="en-US" dirty="0"/>
              <a:t>Who? The public, decision makers, other media outlets, etc.</a:t>
            </a:r>
          </a:p>
          <a:p>
            <a:endParaRPr lang="en-US" dirty="0"/>
          </a:p>
          <a:p>
            <a:r>
              <a:rPr lang="en-US" dirty="0"/>
              <a:t>What? The Pew Research official statement for this article was “these questions build a long history of tracking the global image of countries around the world”. Basically, informing the audience of what Americans think of other countries.</a:t>
            </a:r>
          </a:p>
          <a:p>
            <a:endParaRPr lang="en-US" dirty="0"/>
          </a:p>
          <a:p>
            <a:r>
              <a:rPr lang="en-US" dirty="0"/>
              <a:t>How? They surveyed approximately 5,000 American adults who were a part of the Pew Center’s “American Trends Panel”. The survey represents the views of the full U.S. adult population.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8ED3F2-CEF4-6288-6A40-98B6697FE5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B99390-A439-D241-ACF4-DE20458A119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860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B99390-A439-D241-ACF4-DE20458A119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8090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EE0D9-90DC-BE0D-0FE1-D107F8ED9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A6FA32-E966-1929-6F1C-2A9D2EF060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E9C158-AAC4-EEC5-2865-F3ECC5C4AF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D34EE8-61A0-94B8-EEDD-2CAB4E7C9F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B99390-A439-D241-ACF4-DE20458A119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4638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8173C-DACF-3602-8AB9-8CD72663C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F88566-A0F0-8427-21FF-F0C1BA1E97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1F9FD7-30E9-A80C-27DC-1F0D35B0EA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</a:t>
            </a:r>
            <a:r>
              <a:rPr lang="en-US" dirty="0"/>
              <a:t>New York Times article titled “The World is Draining Oil Reserves, Raising Pressure for a Peace Deal”. This article is primarily about the growing concern of the shrinking inventory of crude oil, a necessary commodity for many people around the world, and how ongoing U.S.-Israeli war against Iran is impacting these reserves.</a:t>
            </a:r>
          </a:p>
          <a:p>
            <a:endParaRPr lang="en-US" dirty="0"/>
          </a:p>
          <a:p>
            <a:r>
              <a:rPr lang="en-US" dirty="0"/>
              <a:t>Why? This chart was created to highlight the rapid shrinkage of the oil reserves have become ever since the start of this year compared to other years.</a:t>
            </a:r>
          </a:p>
          <a:p>
            <a:endParaRPr lang="en-US" dirty="0"/>
          </a:p>
          <a:p>
            <a:r>
              <a:rPr lang="en-US" dirty="0"/>
              <a:t>Who? The public, government officers, other media outlets, etc.</a:t>
            </a:r>
          </a:p>
          <a:p>
            <a:endParaRPr lang="en-US" dirty="0"/>
          </a:p>
          <a:p>
            <a:r>
              <a:rPr lang="en-US" dirty="0"/>
              <a:t>What? To inform the audience of how the ongoing war is impacting daily life.</a:t>
            </a:r>
          </a:p>
          <a:p>
            <a:endParaRPr lang="en-US" dirty="0"/>
          </a:p>
          <a:p>
            <a:r>
              <a:rPr lang="en-US" dirty="0"/>
              <a:t>How? Data was taken from a data analytics platform called </a:t>
            </a:r>
            <a:r>
              <a:rPr lang="en-US" dirty="0" err="1"/>
              <a:t>Kpler</a:t>
            </a:r>
            <a:r>
              <a:rPr lang="en-US" dirty="0"/>
              <a:t> which tracks commodity flows, shipping, etc.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29A99-EC4A-6CDA-1FE0-D1D9FCEFE2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B99390-A439-D241-ACF4-DE20458A119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2142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D866C-D06A-A7A5-020F-2F16480D5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CF4619-D880-FD8A-1590-56CBE6CCE2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16B817-47EA-1986-FD3A-8AF6AF28DD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Would have been better as an interactive data visualization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8DA331-6A31-D105-7B3F-D82AB22365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B99390-A439-D241-ACF4-DE20458A119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4841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88163-F06E-0669-4497-012FBBDC7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C17C2A-4255-1C4D-AE90-599B2B93C7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F9CFAC-4683-5AC8-62E3-BFAF9DDEFC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THIS IS FOR U.S. ONLY I DID NOT HAVE GLOBAL DATA ACCESS</a:t>
            </a:r>
          </a:p>
          <a:p>
            <a:endParaRPr lang="en-US" dirty="0"/>
          </a:p>
          <a:p>
            <a:r>
              <a:rPr lang="en-US" dirty="0"/>
              <a:t>I’m bad at Photoshop. The imagination is left as an exercise to the audience.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C92654-59DD-F005-8A88-7D6E9B4769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B99390-A439-D241-ACF4-DE20458A119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1835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10A5D-B168-9F83-F39C-2FD1361BFB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1002D1-F06E-612B-04D1-5F29FB77F6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1A20AB-1DD3-0A9E-0281-35273A787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3AC59-27E6-E94C-8C70-92F0FD95823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B1903-1F52-BACC-007B-FFDDDD5E2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52ACF-A818-BAFA-54B8-877449C96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F8A8B-2327-E942-9A96-C7EF05FC6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767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62E79-E011-12D4-A37A-0EE7E5AEE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05B35-29C8-360E-9DFC-45F7627B5D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12A8E7-85B4-E745-ED13-80AA0F999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3AC59-27E6-E94C-8C70-92F0FD95823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6DEA0D-9B33-BD6C-54BB-E48530ECB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7DA218-B1A5-4DA8-ED7D-CE7DFE00D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F8A8B-2327-E942-9A96-C7EF05FC6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475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07CB7-564B-9D27-F7D4-EAA13A834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166DA3-6DD7-C9E6-A6DD-206DA0EC1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03805F-6C94-DC11-E29F-C0CAE1C15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3AC59-27E6-E94C-8C70-92F0FD95823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ED968A-AAE6-7B28-A599-9FB1BB3A8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B6F2A-1660-5AC6-D0FD-3C24F6D98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F8A8B-2327-E942-9A96-C7EF05FC6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340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C15AC-55EF-DAEA-CA36-9A5257A17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43DDB-8680-1260-F5B3-83D87E8C31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E6357F-F686-26A1-A052-66CEEE0030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8EF7FC-C531-4B13-6C92-AF41CE057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3AC59-27E6-E94C-8C70-92F0FD95823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246C21-55B3-22D6-6EFA-C96349415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2B979C-FEF1-4E74-4D7C-3B3CBB054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F8A8B-2327-E942-9A96-C7EF05FC6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002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2981F-41E5-50FF-5AD9-8A476B612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261330-4DA1-C85D-556F-881DA212E3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4A9076-665D-1095-44E2-38BEA4F184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FDAAA0-8717-19F1-BF96-DFBABE7A4F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358E66-4003-E42B-B548-A15B910CD2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61B9D0-5A5E-516A-7987-79E9E476B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3AC59-27E6-E94C-8C70-92F0FD95823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9FA51C-24C4-D139-5DFF-6FC52F3A4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74F85F-E0CE-A3BF-9066-F7D3EE1A3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F8A8B-2327-E942-9A96-C7EF05FC6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218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4E400-1E83-BE46-68E4-D31658150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A1838C-789F-741F-E66D-86EE16490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3AC59-27E6-E94C-8C70-92F0FD95823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A87864-4E66-A9BE-E7FC-D0DA2C0DE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BAB852-BB2A-2D06-7B9A-59802BBB9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F8A8B-2327-E942-9A96-C7EF05FC6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183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9CC8A6-8CBE-120F-DA26-D00AF90D8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3AC59-27E6-E94C-8C70-92F0FD95823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81C924-8AAC-5160-667D-DC1D998B2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30FE71-3C17-E705-EF7D-6EF257670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F8A8B-2327-E942-9A96-C7EF05FC6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361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65CB6-2686-A87A-4A69-3C1F3E89E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5FDCA-7CDD-4163-498D-6B1667F126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D4781D-5F5F-097F-0E4C-45E7EBBC0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3D62B0-92CF-D89E-6A5A-184FA81E6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3AC59-27E6-E94C-8C70-92F0FD95823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549313-DB80-829B-814E-9EF90DF2C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A1134B-C80D-3EC1-8721-E789E7F83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F8A8B-2327-E942-9A96-C7EF05FC6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572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17F46-6BDA-A1D0-B77B-AC3735F95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6A851D-1121-6196-662D-582A2D82E4D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74158D-21E9-4A37-B8DC-5161D5DD7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452393-A8B1-4AC6-710C-B7DE0ED39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3AC59-27E6-E94C-8C70-92F0FD95823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98B07A-AC11-F7A7-D74E-0CB8D790D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BD7382-FE8E-CEF8-EC26-1761ECCCA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F8A8B-2327-E942-9A96-C7EF05FC6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209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11604-6E52-09C0-65DD-2DAA9CEF1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27E637-6350-881F-B188-29CE94EE24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5D6E78-9CB6-6003-2A42-360DA850E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3AC59-27E6-E94C-8C70-92F0FD95823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26621-4146-D889-D182-FA862E32F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7CC6E-6C09-2F60-421B-7ADD6DFB9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F8A8B-2327-E942-9A96-C7EF05FC6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694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FB1F94-D762-3697-FBC5-777A18AD4D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FEEFE8-91B1-AA92-7CCB-0D0D57E99C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675C04-A3D9-17D2-5D7B-E33FC1740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3AC59-27E6-E94C-8C70-92F0FD95823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DB46C-A166-4603-0506-64EEF953B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98265-1778-6656-93C7-D4DAEE7CC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F8A8B-2327-E942-9A96-C7EF05FC6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474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4E0465-BF5B-8A7F-9D7C-37C4D2F80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091036-CAA7-1953-0833-F8C102B049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5D06C7-C215-422E-AD70-DD81B4EEC0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C3AC59-27E6-E94C-8C70-92F0FD95823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FB1594-D892-FE4D-64EC-FC2C6A2CFE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4C4CB8-7600-11DF-22D6-F21DD62912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4F8A8B-2327-E942-9A96-C7EF05FC6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705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7" r:id="rId1"/>
    <p:sldLayoutId id="2147483808" r:id="rId2"/>
    <p:sldLayoutId id="2147483809" r:id="rId3"/>
    <p:sldLayoutId id="2147483810" r:id="rId4"/>
    <p:sldLayoutId id="2147483811" r:id="rId5"/>
    <p:sldLayoutId id="2147483812" r:id="rId6"/>
    <p:sldLayoutId id="2147483813" r:id="rId7"/>
    <p:sldLayoutId id="2147483814" r:id="rId8"/>
    <p:sldLayoutId id="2147483815" r:id="rId9"/>
    <p:sldLayoutId id="2147483816" r:id="rId10"/>
    <p:sldLayoutId id="214748381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5A179-AEA9-7A5D-8809-15A1BC8577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5600" dirty="0">
                <a:latin typeface="Aptos" panose="020B0004020202020204" pitchFamily="34" charset="0"/>
                <a:ea typeface="SF Pro Semibold" pitchFamily="2" charset="0"/>
                <a:cs typeface="SF Pro Semibold" pitchFamily="2" charset="0"/>
              </a:rPr>
              <a:t>INFO 5602</a:t>
            </a:r>
            <a:br>
              <a:rPr lang="en-US" sz="5600" dirty="0">
                <a:latin typeface="Aptos" panose="020B0004020202020204" pitchFamily="34" charset="0"/>
                <a:ea typeface="SF Pro Semibold" pitchFamily="2" charset="0"/>
                <a:cs typeface="SF Pro Semibold" pitchFamily="2" charset="0"/>
              </a:rPr>
            </a:br>
            <a:r>
              <a:rPr lang="en-US" sz="5600" dirty="0">
                <a:latin typeface="Aptos" panose="020B0004020202020204" pitchFamily="34" charset="0"/>
                <a:ea typeface="SF Pro Semibold" pitchFamily="2" charset="0"/>
                <a:cs typeface="SF Pro Semibold" pitchFamily="2" charset="0"/>
              </a:rPr>
              <a:t>INFORMATION VISUALIZATION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66A33-C220-B013-8D2F-23AB9EAD08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28682"/>
            <a:ext cx="9144000" cy="1655762"/>
          </a:xfrm>
        </p:spPr>
        <p:txBody>
          <a:bodyPr>
            <a:normAutofit/>
          </a:bodyPr>
          <a:lstStyle/>
          <a:p>
            <a:pPr algn="l"/>
            <a:r>
              <a:rPr lang="en-US" sz="1800" b="1" dirty="0">
                <a:latin typeface="Aptos" panose="020B0004020202020204" pitchFamily="34" charset="0"/>
                <a:ea typeface="SF Pro Semibold" pitchFamily="2" charset="0"/>
                <a:cs typeface="SF Pro Semibold" pitchFamily="2" charset="0"/>
              </a:rPr>
              <a:t>Individual Project Presentation</a:t>
            </a:r>
          </a:p>
          <a:p>
            <a:pPr algn="l"/>
            <a:r>
              <a:rPr lang="en-US" sz="1800" b="1" dirty="0">
                <a:latin typeface="Aptos" panose="020B0004020202020204" pitchFamily="34" charset="0"/>
                <a:ea typeface="SF Pro Semibold" pitchFamily="2" charset="0"/>
                <a:cs typeface="SF Pro Semibold" pitchFamily="2" charset="0"/>
              </a:rPr>
              <a:t>(Real World Chart Evaluation)</a:t>
            </a:r>
          </a:p>
          <a:p>
            <a:pPr algn="l"/>
            <a:endParaRPr lang="en-US" sz="1800" b="1" dirty="0">
              <a:latin typeface="Aptos" panose="020B0004020202020204" pitchFamily="34" charset="0"/>
              <a:ea typeface="SF Pro Semibold" pitchFamily="2" charset="0"/>
              <a:cs typeface="SF Pro Semibold" pitchFamily="2" charset="0"/>
            </a:endParaRPr>
          </a:p>
          <a:p>
            <a:pPr algn="l"/>
            <a:r>
              <a:rPr lang="en-US" sz="1800" b="1" dirty="0">
                <a:latin typeface="Aptos" panose="020B0004020202020204" pitchFamily="34" charset="0"/>
                <a:ea typeface="SF Pro Semibold" pitchFamily="2" charset="0"/>
                <a:cs typeface="SF Pro Semibold" pitchFamily="2" charset="0"/>
              </a:rPr>
              <a:t>Rey Stone</a:t>
            </a:r>
            <a:endParaRPr lang="en-US" sz="1800" b="1" dirty="0">
              <a:latin typeface="Aptos" panose="020B0004020202020204" pitchFamily="34" charset="0"/>
              <a:ea typeface="SF Pro Heavy" pitchFamily="2" charset="0"/>
              <a:cs typeface="SF Pro Heav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6482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6396A-D5DC-8A9B-C740-440460D5E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Chart 1: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9E35D-BE43-D302-9A3A-E468AF0FF4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1465"/>
            <a:ext cx="10515600" cy="4351338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70000"/>
              </a:lnSpc>
            </a:pPr>
            <a:r>
              <a:rPr lang="en-US" b="1" dirty="0"/>
              <a:t>Why: </a:t>
            </a:r>
            <a:r>
              <a:rPr lang="en-US" dirty="0"/>
              <a:t>why was this chart created?</a:t>
            </a:r>
            <a:endParaRPr lang="en-US" b="1" dirty="0"/>
          </a:p>
          <a:p>
            <a:pPr lvl="1">
              <a:lnSpc>
                <a:spcPct val="170000"/>
              </a:lnSpc>
            </a:pPr>
            <a:r>
              <a:rPr lang="en-US" dirty="0"/>
              <a:t>Predict how the Omicron variant of COVID-19 will spread</a:t>
            </a:r>
          </a:p>
          <a:p>
            <a:pPr>
              <a:lnSpc>
                <a:spcPct val="170000"/>
              </a:lnSpc>
            </a:pPr>
            <a:r>
              <a:rPr lang="en-US" b="1" dirty="0"/>
              <a:t>Who: </a:t>
            </a:r>
            <a:r>
              <a:rPr lang="en-US" dirty="0"/>
              <a:t>who is this chart for?</a:t>
            </a:r>
          </a:p>
          <a:p>
            <a:pPr lvl="1">
              <a:lnSpc>
                <a:spcPct val="170000"/>
              </a:lnSpc>
            </a:pPr>
            <a:r>
              <a:rPr lang="en-US" dirty="0"/>
              <a:t>The public and subscribers to the Times</a:t>
            </a:r>
          </a:p>
          <a:p>
            <a:pPr>
              <a:lnSpc>
                <a:spcPct val="170000"/>
              </a:lnSpc>
            </a:pPr>
            <a:r>
              <a:rPr lang="en-US" b="1" dirty="0"/>
              <a:t>What: </a:t>
            </a:r>
            <a:r>
              <a:rPr lang="en-US" dirty="0"/>
              <a:t>what did the creators want the target audience to know/do?</a:t>
            </a:r>
          </a:p>
          <a:p>
            <a:pPr lvl="1">
              <a:lnSpc>
                <a:spcPct val="170000"/>
              </a:lnSpc>
            </a:pPr>
            <a:r>
              <a:rPr lang="en-US" dirty="0"/>
              <a:t>Warn people about the rise in exposure risk to COVID-19</a:t>
            </a:r>
          </a:p>
          <a:p>
            <a:pPr>
              <a:lnSpc>
                <a:spcPct val="170000"/>
              </a:lnSpc>
            </a:pPr>
            <a:r>
              <a:rPr lang="en-US" b="1" dirty="0"/>
              <a:t>How:</a:t>
            </a:r>
            <a:r>
              <a:rPr lang="en-US" dirty="0"/>
              <a:t> what data source did the chart creators use?</a:t>
            </a:r>
          </a:p>
          <a:p>
            <a:pPr lvl="1">
              <a:lnSpc>
                <a:spcPct val="170000"/>
              </a:lnSpc>
            </a:pPr>
            <a:r>
              <a:rPr lang="en-US" dirty="0"/>
              <a:t>Data sourced by Columbia University (later made available on the NYTimes GitHub)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76AC6C-28A6-6972-8D89-92452B63E0D2}"/>
              </a:ext>
            </a:extLst>
          </p:cNvPr>
          <p:cNvSpPr txBox="1"/>
          <p:nvPr/>
        </p:nvSpPr>
        <p:spPr>
          <a:xfrm>
            <a:off x="838200" y="6369764"/>
            <a:ext cx="409118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https://</a:t>
            </a:r>
            <a:r>
              <a:rPr lang="en-US" sz="1000" dirty="0" err="1"/>
              <a:t>www.nytimes.com</a:t>
            </a:r>
            <a:r>
              <a:rPr lang="en-US" sz="1000" dirty="0"/>
              <a:t>/2022/01/06/opinion/omicron-covid-</a:t>
            </a:r>
            <a:r>
              <a:rPr lang="en-US" sz="1000" dirty="0" err="1"/>
              <a:t>us.html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91586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18FA2D2-9BF7-D35C-CE0C-390C7CC68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919545" cy="1325563"/>
          </a:xfrm>
        </p:spPr>
        <p:txBody>
          <a:bodyPr>
            <a:normAutofit/>
          </a:bodyPr>
          <a:lstStyle/>
          <a:p>
            <a:r>
              <a:rPr lang="en-US" sz="3600" dirty="0"/>
              <a:t>Chart 1: Before</a:t>
            </a:r>
          </a:p>
        </p:txBody>
      </p:sp>
      <p:pic>
        <p:nvPicPr>
          <p:cNvPr id="8" name="Content Placeholder 5">
            <a:extLst>
              <a:ext uri="{FF2B5EF4-FFF2-40B4-BE49-F238E27FC236}">
                <a16:creationId xmlns:a16="http://schemas.microsoft.com/office/drawing/2014/main" id="{0DEF7A7E-36DA-7D40-44AC-3241AB7703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257" y="365125"/>
            <a:ext cx="5146243" cy="61264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F8BF2E8-A213-99E3-1CED-77A964923857}"/>
              </a:ext>
            </a:extLst>
          </p:cNvPr>
          <p:cNvSpPr txBox="1"/>
          <p:nvPr/>
        </p:nvSpPr>
        <p:spPr>
          <a:xfrm>
            <a:off x="838200" y="2058759"/>
            <a:ext cx="41402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Unconventional spiral time axis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Very hypnotic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Unclear how many covid cases are confirmed each week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While legend defines a scale, comparing continuous area creates more cognitive load</a:t>
            </a:r>
          </a:p>
        </p:txBody>
      </p:sp>
    </p:spTree>
    <p:extLst>
      <p:ext uri="{BB962C8B-B14F-4D97-AF65-F5344CB8AC3E}">
        <p14:creationId xmlns:p14="http://schemas.microsoft.com/office/powerpoint/2010/main" val="2051598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EFE9B-FB44-747D-F96D-AD1531FEC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78626DE0-968B-71D6-A73E-71884F073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919545" cy="1325563"/>
          </a:xfrm>
        </p:spPr>
        <p:txBody>
          <a:bodyPr>
            <a:normAutofit/>
          </a:bodyPr>
          <a:lstStyle/>
          <a:p>
            <a:r>
              <a:rPr lang="en-US" sz="3600" dirty="0"/>
              <a:t>Chart 1: After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E8925C-70DE-7A1C-C482-78CE4F305E50}"/>
              </a:ext>
            </a:extLst>
          </p:cNvPr>
          <p:cNvSpPr txBox="1"/>
          <p:nvPr/>
        </p:nvSpPr>
        <p:spPr>
          <a:xfrm>
            <a:off x="838200" y="1690688"/>
            <a:ext cx="352044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Time runs along a linear x-axis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Linear time is back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Y-axis clearly defines the amount of covid cases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No need to guess how many cases of covid were confirmed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Used color and annotations to mark significant variants and when they appeared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B545C8E-9249-C764-E78F-D54C98D53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5459" y="1684762"/>
            <a:ext cx="6923958" cy="4105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467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A3E35-8F40-B004-E957-C7221AF5C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Chart 1: Before vs After</a:t>
            </a:r>
          </a:p>
        </p:txBody>
      </p:sp>
      <p:pic>
        <p:nvPicPr>
          <p:cNvPr id="3" name="Content Placeholder 5">
            <a:extLst>
              <a:ext uri="{FF2B5EF4-FFF2-40B4-BE49-F238E27FC236}">
                <a16:creationId xmlns:a16="http://schemas.microsoft.com/office/drawing/2014/main" id="{A9FADE05-3D27-DEE6-5E09-96C3AAFE4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4204"/>
            <a:ext cx="3855720" cy="45901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443A93-8035-D300-AF37-62436410D2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619" y="1969306"/>
            <a:ext cx="6813755" cy="4039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16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0939E-6BEA-B9A5-30E3-E2BD2256F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D6276-9186-3D93-0078-800CD8E23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Chart 2: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772AB8-7ADA-ECC7-05C1-D623AED5AC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70000"/>
              </a:lnSpc>
            </a:pPr>
            <a:r>
              <a:rPr lang="en-US" b="1" dirty="0"/>
              <a:t>Why: </a:t>
            </a:r>
            <a:r>
              <a:rPr lang="en-US" dirty="0"/>
              <a:t>why was this chart created?</a:t>
            </a:r>
          </a:p>
          <a:p>
            <a:pPr lvl="1">
              <a:lnSpc>
                <a:spcPct val="170000"/>
              </a:lnSpc>
            </a:pPr>
            <a:r>
              <a:rPr lang="en-US" dirty="0"/>
              <a:t>Visualize/summarize how Americans view other G20 countries in terms of favorability</a:t>
            </a:r>
          </a:p>
          <a:p>
            <a:pPr>
              <a:lnSpc>
                <a:spcPct val="170000"/>
              </a:lnSpc>
            </a:pPr>
            <a:r>
              <a:rPr lang="en-US" b="1" dirty="0"/>
              <a:t>Who: </a:t>
            </a:r>
            <a:r>
              <a:rPr lang="en-US" dirty="0"/>
              <a:t>who is this chart for?</a:t>
            </a:r>
          </a:p>
          <a:p>
            <a:pPr lvl="1">
              <a:lnSpc>
                <a:spcPct val="170000"/>
              </a:lnSpc>
            </a:pPr>
            <a:r>
              <a:rPr lang="en-US" dirty="0"/>
              <a:t>The public, government representatives, etc.</a:t>
            </a:r>
          </a:p>
          <a:p>
            <a:pPr>
              <a:lnSpc>
                <a:spcPct val="170000"/>
              </a:lnSpc>
            </a:pPr>
            <a:r>
              <a:rPr lang="en-US" b="1" dirty="0"/>
              <a:t>What: </a:t>
            </a:r>
            <a:r>
              <a:rPr lang="en-US" dirty="0"/>
              <a:t>what did the creators want the target audience to know/do?</a:t>
            </a:r>
          </a:p>
          <a:p>
            <a:pPr lvl="1">
              <a:lnSpc>
                <a:spcPct val="170000"/>
              </a:lnSpc>
            </a:pPr>
            <a:r>
              <a:rPr lang="en-US" dirty="0"/>
              <a:t>Inform the audience of American opinions about other countries</a:t>
            </a:r>
          </a:p>
          <a:p>
            <a:pPr>
              <a:lnSpc>
                <a:spcPct val="170000"/>
              </a:lnSpc>
            </a:pPr>
            <a:r>
              <a:rPr lang="en-US" b="1" dirty="0"/>
              <a:t>How:</a:t>
            </a:r>
            <a:r>
              <a:rPr lang="en-US" dirty="0"/>
              <a:t> what data source did the chart creators use?</a:t>
            </a:r>
          </a:p>
          <a:p>
            <a:pPr lvl="1">
              <a:lnSpc>
                <a:spcPct val="170000"/>
              </a:lnSpc>
            </a:pPr>
            <a:r>
              <a:rPr lang="en-US" dirty="0"/>
              <a:t>Pew Research Center surveyed ~5,000 adults from September 14 to 20, 2026.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3CA42B-2D34-5016-CF98-0E2F79A77E20}"/>
              </a:ext>
            </a:extLst>
          </p:cNvPr>
          <p:cNvSpPr txBox="1"/>
          <p:nvPr/>
        </p:nvSpPr>
        <p:spPr>
          <a:xfrm>
            <a:off x="838200" y="6369764"/>
            <a:ext cx="54841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https://</a:t>
            </a:r>
            <a:r>
              <a:rPr lang="en-US" sz="1000" dirty="0" err="1"/>
              <a:t>www.pewresearch.org</a:t>
            </a:r>
            <a:r>
              <a:rPr lang="en-US" sz="1000" dirty="0"/>
              <a:t>/global/2026/10/16/how-do-americans-feel-about-g20-countries/</a:t>
            </a:r>
          </a:p>
        </p:txBody>
      </p:sp>
    </p:spTree>
    <p:extLst>
      <p:ext uri="{BB962C8B-B14F-4D97-AF65-F5344CB8AC3E}">
        <p14:creationId xmlns:p14="http://schemas.microsoft.com/office/powerpoint/2010/main" val="1467850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73E1E-14EA-7CE9-1DC7-9B1E1E300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02F7-7960-6380-ABBC-BC66A4BE2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919545" cy="1325563"/>
          </a:xfrm>
        </p:spPr>
        <p:txBody>
          <a:bodyPr>
            <a:normAutofit/>
          </a:bodyPr>
          <a:lstStyle/>
          <a:p>
            <a:r>
              <a:rPr lang="en-US" sz="3600" dirty="0"/>
              <a:t>Chart 2: Before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F84A2B-843B-8BC0-A119-5498B00C5BD9}"/>
              </a:ext>
            </a:extLst>
          </p:cNvPr>
          <p:cNvSpPr txBox="1"/>
          <p:nvPr/>
        </p:nvSpPr>
        <p:spPr>
          <a:xfrm>
            <a:off x="838200" y="1973880"/>
            <a:ext cx="5257800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Lines comparing political party intensify cognitive load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Dots on the thermometer represent more than one country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Makes the comparison between parties difficult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Tries to do two things at once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Favorite country per party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Comparing countries across parties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This could have been an email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(This could have been a bar chart)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1F47B9-0C3B-C333-14E2-FC58E2ABD6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1614" y="397456"/>
            <a:ext cx="3316106" cy="6063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1759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8F1E4-FA44-FD46-BEE1-A6E8BB501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993751A-0909-D843-68B0-4C39E8EC7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919545" cy="1325563"/>
          </a:xfrm>
        </p:spPr>
        <p:txBody>
          <a:bodyPr>
            <a:normAutofit/>
          </a:bodyPr>
          <a:lstStyle/>
          <a:p>
            <a:r>
              <a:rPr lang="en-US" sz="3600" dirty="0"/>
              <a:t>Chart 2: After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E95ECD-A7C3-A182-9484-E49B23A389AE}"/>
              </a:ext>
            </a:extLst>
          </p:cNvPr>
          <p:cNvSpPr txBox="1"/>
          <p:nvPr/>
        </p:nvSpPr>
        <p:spPr>
          <a:xfrm>
            <a:off x="838200" y="2151727"/>
            <a:ext cx="52578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Reduced cognitive load by grouping by country for easier comparison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Sorted countries by overall average of both parties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Shows which countries are most favorable, regardless of party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Added a party-gap column to show how much favorability differs between parties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11C9E7-E56D-41BF-131A-C4228575C9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255" y="320263"/>
            <a:ext cx="5257800" cy="6429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091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F9D65-8742-0219-5BEA-E9D30702B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9D798-6755-33E8-D4E6-E20EB84AD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Chart 2: Before vs After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DF758F-D10E-A098-DD36-F774836FAC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1559" y="1473048"/>
            <a:ext cx="2745512" cy="501982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A354232-9F80-43FA-BF7B-BE6156C69F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0430" y="1531556"/>
            <a:ext cx="3937000" cy="4814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516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BC8A0-DF3D-A7A1-8023-074951D0A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3F2C8-BCE9-4861-7DAB-9ACBC66A6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Chart 3: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0A495-AB35-101B-64DC-F8F74CCFB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70000"/>
              </a:lnSpc>
            </a:pPr>
            <a:r>
              <a:rPr lang="en-US" b="1" dirty="0"/>
              <a:t>Why: </a:t>
            </a:r>
            <a:r>
              <a:rPr lang="en-US" dirty="0"/>
              <a:t>why was this chart created?</a:t>
            </a:r>
          </a:p>
          <a:p>
            <a:pPr lvl="1">
              <a:lnSpc>
                <a:spcPct val="170000"/>
              </a:lnSpc>
            </a:pPr>
            <a:r>
              <a:rPr lang="en-US" dirty="0"/>
              <a:t>Emphasize how the U.S.-Israeli war against Iran might impact oil reserves.</a:t>
            </a:r>
          </a:p>
          <a:p>
            <a:pPr>
              <a:lnSpc>
                <a:spcPct val="170000"/>
              </a:lnSpc>
            </a:pPr>
            <a:r>
              <a:rPr lang="en-US" b="1" dirty="0"/>
              <a:t>Who: </a:t>
            </a:r>
            <a:r>
              <a:rPr lang="en-US" dirty="0"/>
              <a:t>who is this chart for?</a:t>
            </a:r>
          </a:p>
          <a:p>
            <a:pPr lvl="1">
              <a:lnSpc>
                <a:spcPct val="170000"/>
              </a:lnSpc>
            </a:pPr>
            <a:r>
              <a:rPr lang="en-US" dirty="0"/>
              <a:t>The public, other media outlets, etc.</a:t>
            </a:r>
          </a:p>
          <a:p>
            <a:pPr>
              <a:lnSpc>
                <a:spcPct val="170000"/>
              </a:lnSpc>
            </a:pPr>
            <a:r>
              <a:rPr lang="en-US" b="1" dirty="0"/>
              <a:t>What: </a:t>
            </a:r>
            <a:r>
              <a:rPr lang="en-US" dirty="0"/>
              <a:t>what did the creators want the target audience to know/do?</a:t>
            </a:r>
          </a:p>
          <a:p>
            <a:pPr lvl="1">
              <a:lnSpc>
                <a:spcPct val="170000"/>
              </a:lnSpc>
            </a:pPr>
            <a:r>
              <a:rPr lang="en-US" dirty="0"/>
              <a:t>Inform the audience of how the U.S.-Israeli war against Iran can impact our daily lives.</a:t>
            </a:r>
          </a:p>
          <a:p>
            <a:pPr>
              <a:lnSpc>
                <a:spcPct val="170000"/>
              </a:lnSpc>
            </a:pPr>
            <a:r>
              <a:rPr lang="en-US" b="1" dirty="0"/>
              <a:t>How:</a:t>
            </a:r>
            <a:r>
              <a:rPr lang="en-US" dirty="0"/>
              <a:t> what data source did the chart creators use?</a:t>
            </a:r>
          </a:p>
          <a:p>
            <a:pPr lvl="1">
              <a:lnSpc>
                <a:spcPct val="170000"/>
              </a:lnSpc>
            </a:pPr>
            <a:r>
              <a:rPr lang="en-US" dirty="0" err="1"/>
              <a:t>Kpler</a:t>
            </a:r>
            <a:r>
              <a:rPr lang="en-US" dirty="0"/>
              <a:t>: real-time data analytics platform tracking physical commodity flows.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44E837-6C26-2438-6C84-02D70B207BBD}"/>
              </a:ext>
            </a:extLst>
          </p:cNvPr>
          <p:cNvSpPr txBox="1"/>
          <p:nvPr/>
        </p:nvSpPr>
        <p:spPr>
          <a:xfrm>
            <a:off x="838200" y="6369764"/>
            <a:ext cx="55034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https://</a:t>
            </a:r>
            <a:r>
              <a:rPr lang="en-US" sz="1000" dirty="0" err="1"/>
              <a:t>www.nytimes.com</a:t>
            </a:r>
            <a:r>
              <a:rPr lang="en-US" sz="1000" dirty="0"/>
              <a:t>/2026/06/12/business/energy-environment/</a:t>
            </a:r>
            <a:r>
              <a:rPr lang="en-US" sz="1000" dirty="0" err="1"/>
              <a:t>iran</a:t>
            </a:r>
            <a:r>
              <a:rPr lang="en-US" sz="1000" dirty="0"/>
              <a:t>-war-oil-</a:t>
            </a:r>
            <a:r>
              <a:rPr lang="en-US" sz="1000" dirty="0" err="1"/>
              <a:t>reserves.html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9416519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D7941-6B6E-62BD-8EF5-7D8C55062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B76A2A6-2F08-1C94-BF2A-A163FB0FC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919545" cy="1325563"/>
          </a:xfrm>
        </p:spPr>
        <p:txBody>
          <a:bodyPr>
            <a:normAutofit/>
          </a:bodyPr>
          <a:lstStyle/>
          <a:p>
            <a:r>
              <a:rPr lang="en-US" sz="3600" dirty="0"/>
              <a:t>Chart 3: Before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0DB3E2-FEE6-05F1-F49C-57C3ABC3091A}"/>
              </a:ext>
            </a:extLst>
          </p:cNvPr>
          <p:cNvSpPr txBox="1"/>
          <p:nvPr/>
        </p:nvSpPr>
        <p:spPr>
          <a:xfrm>
            <a:off x="838200" y="1843950"/>
            <a:ext cx="4372897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Individual year lines are redundant in the shaded year range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Especially if you give up halfway through labeling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Clarifying annotations are only making the chart more confusing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Trying to do two things at once (again)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Range of oil in storage reserves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Weekly levels per year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Labels for other years are scattered throughout the chart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7B10DF-8845-A3C7-AB32-5F261FC5CC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6098" y="1027906"/>
            <a:ext cx="6392195" cy="5021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8250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C26DF-F714-63BE-5D3F-F4523A6E2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D735F65-CD70-72A4-F944-4C3E2FA7D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919545" cy="1325563"/>
          </a:xfrm>
        </p:spPr>
        <p:txBody>
          <a:bodyPr>
            <a:normAutofit/>
          </a:bodyPr>
          <a:lstStyle/>
          <a:p>
            <a:r>
              <a:rPr lang="en-US" sz="3600" dirty="0"/>
              <a:t>Chart 3: After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766071-1F5B-CBB0-7C24-7800A28473AC}"/>
              </a:ext>
            </a:extLst>
          </p:cNvPr>
          <p:cNvSpPr txBox="1"/>
          <p:nvPr/>
        </p:nvSpPr>
        <p:spPr>
          <a:xfrm>
            <a:off x="838200" y="1690688"/>
            <a:ext cx="364531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Removed individual year lines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Range is all that is needed for comparison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Only two clear annotations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2019-2025 range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2019-2025 average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Added average inventory line for 2019-2025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Reduces cognitive load by minimizing data to filter through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AEA74A-93B4-1FAC-B6AB-3512199380E0}"/>
              </a:ext>
            </a:extLst>
          </p:cNvPr>
          <p:cNvSpPr txBox="1"/>
          <p:nvPr/>
        </p:nvSpPr>
        <p:spPr>
          <a:xfrm>
            <a:off x="678425" y="6292820"/>
            <a:ext cx="72987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Note: I did not have access to the global inventory data, so I changed it to the U.S. national inventory to reduce fabrication of data.</a:t>
            </a:r>
          </a:p>
          <a:p>
            <a:endParaRPr lang="en-US" sz="1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DE353E-8859-EFB4-2CF0-EB3EFAC430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0993" y="691140"/>
            <a:ext cx="7202129" cy="5285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107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92B3F-85AC-AE3D-3E02-955BE8E62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587D9-859D-8880-7F44-7B313AEF2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Chart 3: Before vs After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1AA548-A765-54F1-AF77-87C3E9EC8D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161" y="1690688"/>
            <a:ext cx="5271839" cy="414128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1B2C2E4-CC35-E8CD-7501-3128AC0E68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1303" y="1740772"/>
            <a:ext cx="5442154" cy="3994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4548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3AF934-3772-9E03-37F4-3EAC7327214C}"/>
              </a:ext>
            </a:extLst>
          </p:cNvPr>
          <p:cNvSpPr txBox="1"/>
          <p:nvPr/>
        </p:nvSpPr>
        <p:spPr>
          <a:xfrm>
            <a:off x="4676928" y="3059667"/>
            <a:ext cx="2838149" cy="73866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4200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879877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5D2BD7F-D868-DD43-83BA-F4658A96AC93}">
  <we:reference id="cba9fc06-6fc9-492e-9525-923870a3b909" version="2.0.0.1" store="EXCatalog" storeType="EXCatalog"/>
  <we:alternateReferences>
    <we:reference id="WA200010215" version="2.0.0.1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632</TotalTime>
  <Words>1159</Words>
  <Application>Microsoft Macintosh PowerPoint</Application>
  <PresentationFormat>Widescreen</PresentationFormat>
  <Paragraphs>134</Paragraphs>
  <Slides>14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INFO 5602 INFORMATION VISUALIZATION</vt:lpstr>
      <vt:lpstr>Chart 1: Context</vt:lpstr>
      <vt:lpstr>Chart 1: Before</vt:lpstr>
      <vt:lpstr>Chart 1: After</vt:lpstr>
      <vt:lpstr>Chart 1: Before vs After</vt:lpstr>
      <vt:lpstr>Chart 2: Context</vt:lpstr>
      <vt:lpstr>Chart 2: Before</vt:lpstr>
      <vt:lpstr>Chart 2: After</vt:lpstr>
      <vt:lpstr>Chart 2: Before vs After</vt:lpstr>
      <vt:lpstr>Chart 3: Context</vt:lpstr>
      <vt:lpstr>Chart 3: Before</vt:lpstr>
      <vt:lpstr>Chart 3: After</vt:lpstr>
      <vt:lpstr>Chart 3: Before vs After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Rey Stone</dc:creator>
  <cp:lastModifiedBy>Rey Stone</cp:lastModifiedBy>
  <cp:revision>28</cp:revision>
  <dcterms:created xsi:type="dcterms:W3CDTF">2026-10-19T20:37:36Z</dcterms:created>
  <dcterms:modified xsi:type="dcterms:W3CDTF">2026-10-21T16:27:43Z</dcterms:modified>
</cp:coreProperties>
</file>